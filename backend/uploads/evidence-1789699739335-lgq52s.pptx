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300" r:id="rId4"/>
    <p:sldId id="293" r:id="rId5"/>
    <p:sldId id="294" r:id="rId6"/>
    <p:sldId id="299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B08"/>
    <a:srgbClr val="010000"/>
    <a:srgbClr val="EA1C06"/>
    <a:srgbClr val="70102B"/>
    <a:srgbClr val="323232"/>
    <a:srgbClr val="9BBB59"/>
    <a:srgbClr val="39B0D4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26" autoAdjust="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mahaswayam.gov.in/skillgapstudy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www.mahaswayam.gov.in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cs.gov.in/job-seeker/pages/search.aspx" TargetMode="External"/><Relationship Id="rId5" Type="http://schemas.openxmlformats.org/officeDocument/2006/relationships/hyperlink" Target="https://www.ncs.gov.in/" TargetMode="External"/><Relationship Id="rId10" Type="http://schemas.openxmlformats.org/officeDocument/2006/relationships/image" Target="../media/image9.png"/><Relationship Id="rId4" Type="http://schemas.openxmlformats.org/officeDocument/2006/relationships/hyperlink" Target="https://www.skillindiadigital.gov.in/" TargetMode="Externa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FE0E7441-55FA-8FB0-E8F2-E370E7203D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 useBgFill="1">
        <p:nvSpPr>
          <p:cNvPr id="10" name="Rectangle 24">
            <a:extLst>
              <a:ext uri="{FF2B5EF4-FFF2-40B4-BE49-F238E27FC236}">
                <a16:creationId xmlns:a16="http://schemas.microsoft.com/office/drawing/2014/main" id="{AF69DE79-D0F9-D0E4-BBF9-1482F7C7B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26">
            <a:extLst>
              <a:ext uri="{FF2B5EF4-FFF2-40B4-BE49-F238E27FC236}">
                <a16:creationId xmlns:a16="http://schemas.microsoft.com/office/drawing/2014/main" id="{90D76E52-3D2A-F172-9804-A8EF82CF3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A6825A-6414-E284-41EB-D4D0722248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13" name="Subtitle 3">
            <a:extLst>
              <a:ext uri="{FF2B5EF4-FFF2-40B4-BE49-F238E27FC236}">
                <a16:creationId xmlns:a16="http://schemas.microsoft.com/office/drawing/2014/main" id="{B00DA71E-3345-C679-C7B2-584F8B3FC39B}"/>
              </a:ext>
            </a:extLst>
          </p:cNvPr>
          <p:cNvSpPr txBox="1">
            <a:spLocks/>
          </p:cNvSpPr>
          <p:nvPr/>
        </p:nvSpPr>
        <p:spPr bwMode="auto">
          <a:xfrm>
            <a:off x="1389580" y="225984"/>
            <a:ext cx="8534400" cy="125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KAIZEN FLOW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76BAFAFE-9AC5-0B0E-D360-398FB6999B97}"/>
              </a:ext>
            </a:extLst>
          </p:cNvPr>
          <p:cNvSpPr txBox="1">
            <a:spLocks/>
          </p:cNvSpPr>
          <p:nvPr/>
        </p:nvSpPr>
        <p:spPr bwMode="auto">
          <a:xfrm>
            <a:off x="475180" y="-53781"/>
            <a:ext cx="10363200" cy="10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8AA46-FA33-C1C0-5CDE-8CE14A3D97FC}"/>
              </a:ext>
            </a:extLst>
          </p:cNvPr>
          <p:cNvSpPr txBox="1"/>
          <p:nvPr/>
        </p:nvSpPr>
        <p:spPr>
          <a:xfrm>
            <a:off x="179286" y="1376245"/>
            <a:ext cx="7127008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26135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Difficulties in tracking employment outcomes, skill gaps, and the impact of skilling initiatives.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Team KAIZEN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996F59-6E9C-8E01-3DB7-FAA5552CE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 eaLnBrk="1" hangingPunct="1"/>
            <a:r>
              <a:rPr lang="en-US" sz="2400" b="1" dirty="0">
                <a:solidFill>
                  <a:srgbClr val="1E26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b="1" dirty="0">
                <a:solidFill>
                  <a:srgbClr val="1E26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KAIZE</a:t>
            </a:r>
            <a:r>
              <a:rPr lang="en-US" sz="2400" b="1" dirty="0">
                <a:solidFill>
                  <a:srgbClr val="1E26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FLOW</a:t>
            </a:r>
            <a:br>
              <a:rPr lang="en-US" sz="2400" b="1" dirty="0">
                <a:solidFill>
                  <a:srgbClr val="1E26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1E26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SKILLING OUTCOME INTELLIGENCE</a:t>
            </a:r>
            <a:endParaRPr sz="2400" b="1" dirty="0">
              <a:solidFill>
                <a:srgbClr val="1E26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1E2634"/>
                </a:solidFill>
                <a:latin typeface="Aptos"/>
              </a:rPr>
              <a:t>Team K</a:t>
            </a:r>
            <a:r>
              <a:rPr lang="en-US" sz="1600" b="1" dirty="0">
                <a:solidFill>
                  <a:srgbClr val="1E2634"/>
                </a:solidFill>
                <a:latin typeface="Aptos"/>
              </a:rPr>
              <a:t>AIZEN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DBFC41-98B8-97F8-6687-1F387D485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26" y="1217758"/>
            <a:ext cx="11391772" cy="5053584"/>
          </a:xfrm>
          <a:prstGeom prst="rect">
            <a:avLst/>
          </a:prstGeom>
        </p:spPr>
      </p:pic>
      <p:sp>
        <p:nvSpPr>
          <p:cNvPr id="100" name="Flow Arrow 1"/>
          <p:cNvSpPr/>
          <p:nvPr/>
        </p:nvSpPr>
        <p:spPr>
          <a:xfrm>
            <a:off x="1615440" y="1969008"/>
            <a:ext cx="853440" cy="219456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Flow Arrow 2"/>
          <p:cNvSpPr/>
          <p:nvPr/>
        </p:nvSpPr>
        <p:spPr>
          <a:xfrm>
            <a:off x="3215640" y="1969008"/>
            <a:ext cx="853440" cy="219456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Flow Arrow 3"/>
          <p:cNvSpPr/>
          <p:nvPr/>
        </p:nvSpPr>
        <p:spPr>
          <a:xfrm>
            <a:off x="4821936" y="1969008"/>
            <a:ext cx="853440" cy="219456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3" name="Flow Arrow 4"/>
          <p:cNvSpPr/>
          <p:nvPr/>
        </p:nvSpPr>
        <p:spPr>
          <a:xfrm>
            <a:off x="6437376" y="1969008"/>
            <a:ext cx="853440" cy="219456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Flow Arrow 5"/>
          <p:cNvSpPr/>
          <p:nvPr/>
        </p:nvSpPr>
        <p:spPr>
          <a:xfrm>
            <a:off x="8058912" y="1969008"/>
            <a:ext cx="853440" cy="219456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Flow Arrow 6"/>
          <p:cNvSpPr/>
          <p:nvPr/>
        </p:nvSpPr>
        <p:spPr>
          <a:xfrm>
            <a:off x="9677400" y="1969008"/>
            <a:ext cx="853440" cy="219456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9" name="Loop Back Connector"/>
          <p:cNvSpPr/>
          <p:nvPr/>
        </p:nvSpPr>
        <p:spPr>
          <a:xfrm>
            <a:off x="1243584" y="3901440"/>
            <a:ext cx="9668256" cy="274320"/>
          </a:xfrm>
          <a:custGeom>
            <a:avLst/>
            <a:gdLst/>
            <a:ahLst/>
            <a:cxnLst/>
            <a:rect l="0" t="0" r="0" b="0"/>
            <a:pathLst>
              <a:path w="9668256" h="274320">
                <a:moveTo>
                  <a:pt x="9668256" y="0"/>
                </a:moveTo>
                <a:lnTo>
                  <a:pt x="9668256" y="274320"/>
                </a:lnTo>
                <a:lnTo>
                  <a:pt x="0" y="274320"/>
                </a:lnTo>
                <a:lnTo>
                  <a:pt x="0" y="0"/>
                </a:lnTo>
              </a:path>
            </a:pathLst>
          </a:custGeom>
          <a:noFill/>
          <a:ln w="28575" cap="rnd">
            <a:solidFill>
              <a:srgbClr val="0070C0"/>
            </a:solidFill>
            <a:round/>
            <a:headEnd type="none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F53E71-BB1F-E0F2-D5CA-73628026A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A97815-C3C9-AA1B-B438-C873702E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8D27962C-CE0D-4802-A852-99B000FE795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1E2634"/>
                </a:solidFill>
                <a:latin typeface="Aptos"/>
              </a:rPr>
              <a:t>Team K</a:t>
            </a:r>
            <a:r>
              <a:rPr lang="en-US" sz="1600" b="1" dirty="0">
                <a:solidFill>
                  <a:srgbClr val="1E2634"/>
                </a:solidFill>
                <a:latin typeface="Aptos"/>
              </a:rPr>
              <a:t>AIZEN</a:t>
            </a: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EE341E-6ADF-92D1-A3D2-530FDE1F9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B389B95-3B17-EEE1-A43F-EE77C6A21D6C}"/>
              </a:ext>
            </a:extLst>
          </p:cNvPr>
          <p:cNvSpPr txBox="1">
            <a:spLocks/>
          </p:cNvSpPr>
          <p:nvPr/>
        </p:nvSpPr>
        <p:spPr>
          <a:xfrm>
            <a:off x="609600" y="252246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037A66-61BD-1C5F-3BC5-5CF31B9C5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2B9EA5C7-B2A9-3167-B9F1-D4C6ADD776C2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8ED4C68-D430-5CF5-F7E1-600B611F84B0}"/>
              </a:ext>
            </a:extLst>
          </p:cNvPr>
          <p:cNvSpPr txBox="1">
            <a:spLocks/>
          </p:cNvSpPr>
          <p:nvPr/>
        </p:nvSpPr>
        <p:spPr>
          <a:xfrm>
            <a:off x="8737600" y="632530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E55D547-5C9B-BD5B-FBD3-74B352508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00" y="1122999"/>
            <a:ext cx="11586932" cy="5168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5ACC3B-D239-EAFB-996F-F12CC32A6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400" y="1163208"/>
            <a:ext cx="3683000" cy="50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9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1E2634"/>
                </a:solidFill>
                <a:latin typeface="Aptos"/>
              </a:rPr>
              <a:t>Team K</a:t>
            </a:r>
            <a:r>
              <a:rPr lang="en-US" sz="1600" b="1" dirty="0">
                <a:solidFill>
                  <a:srgbClr val="1E2634"/>
                </a:solidFill>
                <a:latin typeface="Aptos"/>
              </a:rPr>
              <a:t>AIZEN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1" name="Subtitle"/>
          <p:cNvSpPr/>
          <p:nvPr/>
        </p:nvSpPr>
        <p:spPr>
          <a:xfrm>
            <a:off x="457200" y="1207008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i="1" dirty="0">
                <a:solidFill>
                  <a:srgbClr val="1F4E79"/>
                </a:solidFill>
                <a:latin typeface="Calibri"/>
              </a:rPr>
              <a:t>Simple architecture • manageable rollout • measurable outcomes</a:t>
            </a:r>
          </a:p>
        </p:txBody>
      </p:sp>
      <p:sp>
        <p:nvSpPr>
          <p:cNvPr id="202" name="Card BG 1"/>
          <p:cNvSpPr/>
          <p:nvPr/>
        </p:nvSpPr>
        <p:spPr>
          <a:xfrm>
            <a:off x="457200" y="1691640"/>
            <a:ext cx="3576218" cy="3977639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  <a:effectLst>
            <a:outerShdw dist="23000" dir="5400000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3" name="Icon 1"/>
          <p:cNvSpPr/>
          <p:nvPr/>
        </p:nvSpPr>
        <p:spPr>
          <a:xfrm>
            <a:off x="1961845" y="1947672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4" name="Header 1"/>
          <p:cNvSpPr/>
          <p:nvPr/>
        </p:nvSpPr>
        <p:spPr>
          <a:xfrm>
            <a:off x="457200" y="2642616"/>
            <a:ext cx="357621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2E7D32"/>
                </a:solidFill>
                <a:latin typeface="Calibri"/>
              </a:rPr>
              <a:t>FEASIBILITY</a:t>
            </a:r>
          </a:p>
        </p:txBody>
      </p:sp>
      <p:cxnSp>
        <p:nvCxnSpPr>
          <p:cNvPr id="205" name="Divider 1"/>
          <p:cNvCxnSpPr/>
          <p:nvPr/>
        </p:nvCxnSpPr>
        <p:spPr>
          <a:xfrm>
            <a:off x="731520" y="3063240"/>
            <a:ext cx="3027578" cy="0"/>
          </a:xfrm>
          <a:prstGeom prst="line">
            <a:avLst/>
          </a:prstGeom>
          <a:ln w="9525">
            <a:solidFill>
              <a:srgbClr val="2E7D32">
                <a:alpha val="40000"/>
              </a:srgbClr>
            </a:solidFill>
          </a:ln>
        </p:spPr>
      </p:cxnSp>
      <p:sp>
        <p:nvSpPr>
          <p:cNvPr id="206" name="Bullets 1"/>
          <p:cNvSpPr txBox="1"/>
          <p:nvPr/>
        </p:nvSpPr>
        <p:spPr>
          <a:xfrm>
            <a:off x="530942" y="3209544"/>
            <a:ext cx="3502476" cy="24326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/>
              </a:rPr>
              <a:t>FastAPI + SQLite + HTML/CSS/JS: </a:t>
            </a:r>
            <a:r>
              <a:rPr lang="en-US" sz="1600" dirty="0">
                <a:solidFill>
                  <a:srgbClr val="FC2B08"/>
                </a:solidFill>
                <a:latin typeface="Calibri"/>
              </a:rPr>
              <a:t>lightweight and easy to deploy.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/>
              </a:rPr>
              <a:t>One longitudinal trainee record links </a:t>
            </a:r>
            <a:r>
              <a:rPr lang="en-US" sz="1600" dirty="0">
                <a:solidFill>
                  <a:srgbClr val="FC2B08"/>
                </a:solidFill>
                <a:latin typeface="Calibri"/>
              </a:rPr>
              <a:t>training → placement → employment.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/>
              </a:rPr>
              <a:t>Rule-based analytics and skill-gap logic </a:t>
            </a:r>
            <a:r>
              <a:rPr lang="en-US" sz="1600" dirty="0">
                <a:solidFill>
                  <a:srgbClr val="FC2B08"/>
                </a:solidFill>
                <a:latin typeface="Calibri"/>
              </a:rPr>
              <a:t>avoid heavy ML dependency.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010000"/>
                </a:solidFill>
                <a:latin typeface="Calibri"/>
              </a:rPr>
              <a:t>Works with synthetic/imported </a:t>
            </a:r>
            <a:r>
              <a:rPr lang="en-US" sz="1600" dirty="0">
                <a:solidFill>
                  <a:srgbClr val="404040"/>
                </a:solidFill>
                <a:latin typeface="Calibri"/>
              </a:rPr>
              <a:t>data now; APIs allow </a:t>
            </a:r>
            <a:r>
              <a:rPr lang="en-US" sz="1600" dirty="0">
                <a:solidFill>
                  <a:srgbClr val="FC2B08"/>
                </a:solidFill>
                <a:latin typeface="Calibri"/>
              </a:rPr>
              <a:t>future integrations.</a:t>
            </a:r>
          </a:p>
        </p:txBody>
      </p:sp>
      <p:sp>
        <p:nvSpPr>
          <p:cNvPr id="207" name="Card BG 2"/>
          <p:cNvSpPr/>
          <p:nvPr/>
        </p:nvSpPr>
        <p:spPr>
          <a:xfrm>
            <a:off x="4307738" y="1691640"/>
            <a:ext cx="3576218" cy="3977639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  <a:effectLst>
            <a:outerShdw dist="23000" dir="5400000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8" name="Icon 2"/>
          <p:cNvSpPr/>
          <p:nvPr/>
        </p:nvSpPr>
        <p:spPr>
          <a:xfrm>
            <a:off x="5812383" y="1947672"/>
            <a:ext cx="566928" cy="566928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9" name="Header 2"/>
          <p:cNvSpPr/>
          <p:nvPr/>
        </p:nvSpPr>
        <p:spPr>
          <a:xfrm>
            <a:off x="4307738" y="2642616"/>
            <a:ext cx="357621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E65100"/>
                </a:solidFill>
                <a:latin typeface="Calibri"/>
              </a:rPr>
              <a:t>KEY CHALLENGES</a:t>
            </a:r>
          </a:p>
        </p:txBody>
      </p:sp>
      <p:cxnSp>
        <p:nvCxnSpPr>
          <p:cNvPr id="210" name="Divider 2"/>
          <p:cNvCxnSpPr/>
          <p:nvPr/>
        </p:nvCxnSpPr>
        <p:spPr>
          <a:xfrm>
            <a:off x="4582058" y="3063240"/>
            <a:ext cx="3027578" cy="0"/>
          </a:xfrm>
          <a:prstGeom prst="line">
            <a:avLst/>
          </a:prstGeom>
          <a:ln w="9525">
            <a:solidFill>
              <a:srgbClr val="E65100">
                <a:alpha val="40000"/>
              </a:srgbClr>
            </a:solidFill>
          </a:ln>
        </p:spPr>
      </p:cxnSp>
      <p:sp>
        <p:nvSpPr>
          <p:cNvPr id="211" name="Bullets 2"/>
          <p:cNvSpPr txBox="1"/>
          <p:nvPr/>
        </p:nvSpPr>
        <p:spPr>
          <a:xfrm>
            <a:off x="4582058" y="3209544"/>
            <a:ext cx="3027578" cy="22037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Fragmented records </a:t>
            </a:r>
            <a:r>
              <a:rPr lang="en-US" sz="1600" dirty="0">
                <a:solidFill>
                  <a:srgbClr val="404040"/>
                </a:solidFill>
                <a:latin typeface="Calibri"/>
              </a:rPr>
              <a:t>and </a:t>
            </a:r>
            <a:r>
              <a:rPr lang="en-US" sz="1600" dirty="0">
                <a:solidFill>
                  <a:srgbClr val="010000"/>
                </a:solidFill>
                <a:latin typeface="Calibri"/>
              </a:rPr>
              <a:t>inconsistent trainee identifiers.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Phone/location changes </a:t>
            </a:r>
            <a:r>
              <a:rPr lang="en-US" sz="1600" dirty="0">
                <a:solidFill>
                  <a:srgbClr val="404040"/>
                </a:solidFill>
                <a:latin typeface="Calibri"/>
              </a:rPr>
              <a:t>can break follow-up continuity.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/>
              </a:rPr>
              <a:t>Low response rates and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incomplete employment updates.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010000"/>
                </a:solidFill>
                <a:latin typeface="Calibri"/>
              </a:rPr>
              <a:t>Consent, privacy and employer-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</a:rPr>
              <a:t>data reliability.</a:t>
            </a:r>
          </a:p>
        </p:txBody>
      </p:sp>
      <p:sp>
        <p:nvSpPr>
          <p:cNvPr id="212" name="Card BG 3"/>
          <p:cNvSpPr/>
          <p:nvPr/>
        </p:nvSpPr>
        <p:spPr>
          <a:xfrm>
            <a:off x="8158276" y="1691640"/>
            <a:ext cx="3576218" cy="3977639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>
            <a:noFill/>
          </a:ln>
          <a:effectLst>
            <a:outerShdw dist="23000" dir="5400000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3" name="Icon 3"/>
          <p:cNvSpPr/>
          <p:nvPr/>
        </p:nvSpPr>
        <p:spPr>
          <a:xfrm>
            <a:off x="9662921" y="1947672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14" name="Header 3"/>
          <p:cNvSpPr/>
          <p:nvPr/>
        </p:nvSpPr>
        <p:spPr>
          <a:xfrm>
            <a:off x="8158276" y="2642616"/>
            <a:ext cx="357621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1565C0"/>
                </a:solidFill>
                <a:latin typeface="Calibri"/>
              </a:rPr>
              <a:t>MITIGATION STRATEGY</a:t>
            </a:r>
          </a:p>
        </p:txBody>
      </p:sp>
      <p:cxnSp>
        <p:nvCxnSpPr>
          <p:cNvPr id="215" name="Divider 3"/>
          <p:cNvCxnSpPr/>
          <p:nvPr/>
        </p:nvCxnSpPr>
        <p:spPr>
          <a:xfrm>
            <a:off x="8432596" y="3063240"/>
            <a:ext cx="3027578" cy="0"/>
          </a:xfrm>
          <a:prstGeom prst="line">
            <a:avLst/>
          </a:prstGeom>
          <a:ln w="9525">
            <a:solidFill>
              <a:srgbClr val="1565C0">
                <a:alpha val="40000"/>
              </a:srgbClr>
            </a:solidFill>
          </a:ln>
        </p:spPr>
      </p:cxnSp>
      <p:sp>
        <p:nvSpPr>
          <p:cNvPr id="216" name="Bullets 3"/>
          <p:cNvSpPr txBox="1"/>
          <p:nvPr/>
        </p:nvSpPr>
        <p:spPr>
          <a:xfrm>
            <a:off x="8432596" y="3209544"/>
            <a:ext cx="3027578" cy="22037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FC2B08"/>
                </a:solidFill>
                <a:latin typeface="Calibri"/>
              </a:rPr>
              <a:t>Use a unique trainee ID </a:t>
            </a:r>
            <a:r>
              <a:rPr lang="en-US" sz="1600" dirty="0">
                <a:solidFill>
                  <a:srgbClr val="404040"/>
                </a:solidFill>
                <a:latin typeface="Calibri"/>
              </a:rPr>
              <a:t>+ validation/normalisation checks.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FC2B08"/>
                </a:solidFill>
                <a:latin typeface="Calibri"/>
              </a:rPr>
              <a:t>Keep follow-up status separate </a:t>
            </a:r>
            <a:r>
              <a:rPr lang="en-US" sz="1600" dirty="0">
                <a:solidFill>
                  <a:srgbClr val="404040"/>
                </a:solidFill>
                <a:latin typeface="Calibri"/>
              </a:rPr>
              <a:t>from phone/location changes.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/>
              </a:rPr>
              <a:t>Pending queue + assisted follow-up + </a:t>
            </a:r>
            <a:r>
              <a:rPr lang="en-US" sz="1600" dirty="0">
                <a:solidFill>
                  <a:srgbClr val="FC2B08"/>
                </a:solidFill>
                <a:latin typeface="Calibri"/>
              </a:rPr>
              <a:t>structured outcome forms.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/>
              </a:rPr>
              <a:t>Consent log, </a:t>
            </a:r>
            <a:r>
              <a:rPr lang="en-US" sz="1600" dirty="0">
                <a:solidFill>
                  <a:srgbClr val="FC2B08"/>
                </a:solidFill>
                <a:latin typeface="Calibri"/>
              </a:rPr>
              <a:t>minimum necessary data </a:t>
            </a:r>
            <a:r>
              <a:rPr lang="en-US" sz="1600" dirty="0">
                <a:solidFill>
                  <a:srgbClr val="404040"/>
                </a:solidFill>
                <a:latin typeface="Calibri"/>
              </a:rPr>
              <a:t>and employer validation score.</a:t>
            </a:r>
          </a:p>
        </p:txBody>
      </p:sp>
      <p:sp>
        <p:nvSpPr>
          <p:cNvPr id="217" name="Viable Bar BG"/>
          <p:cNvSpPr/>
          <p:nvPr/>
        </p:nvSpPr>
        <p:spPr>
          <a:xfrm>
            <a:off x="532460" y="5788151"/>
            <a:ext cx="11277295" cy="3840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8" name="Viable Label"/>
          <p:cNvSpPr/>
          <p:nvPr/>
        </p:nvSpPr>
        <p:spPr>
          <a:xfrm>
            <a:off x="1797253" y="578923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400" b="1" dirty="0">
                <a:solidFill>
                  <a:srgbClr val="2E7D32"/>
                </a:solidFill>
                <a:latin typeface="Calibri"/>
              </a:rPr>
              <a:t>VIABLE</a:t>
            </a:r>
          </a:p>
        </p:txBody>
      </p:sp>
      <p:sp>
        <p:nvSpPr>
          <p:cNvPr id="219" name="Viable Text"/>
          <p:cNvSpPr/>
          <p:nvPr/>
        </p:nvSpPr>
        <p:spPr>
          <a:xfrm>
            <a:off x="3396105" y="5797295"/>
            <a:ext cx="4832555" cy="38404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300" dirty="0">
                <a:solidFill>
                  <a:srgbClr val="FF0000"/>
                </a:solidFill>
                <a:latin typeface="Calibri"/>
              </a:rPr>
              <a:t>Prototype-first today → modular government integration tomorrow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1E2634"/>
                </a:solidFill>
                <a:latin typeface="Aptos"/>
              </a:rPr>
              <a:t>Team K</a:t>
            </a:r>
            <a:r>
              <a:rPr lang="en-US" sz="1600" b="1" dirty="0">
                <a:solidFill>
                  <a:srgbClr val="1E2634"/>
                </a:solidFill>
                <a:latin typeface="Aptos"/>
              </a:rPr>
              <a:t>AIZEN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9600" y="988530"/>
            <a:ext cx="10972800" cy="35086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dirty="0">
                <a:solidFill>
                  <a:srgbClr val="142C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DATA COLLECTION → PROGRAMME ACTION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975104"/>
            <a:ext cx="51663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758952" y="2176272"/>
            <a:ext cx="420624" cy="420624"/>
          </a:xfrm>
          <a:prstGeom prst="ellipse">
            <a:avLst/>
          </a:prstGeom>
          <a:solidFill>
            <a:srgbClr val="1D73B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344168" y="2139696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1D73B7"/>
                </a:solidFill>
                <a:latin typeface="Aptos"/>
              </a:rPr>
              <a:t>TRAINEE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344168" y="2432304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1E2634"/>
                </a:solidFill>
                <a:latin typeface="Aptos"/>
              </a:rPr>
              <a:t>Follow-up creates a persistent outcome record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344168" y="2743200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606A7A"/>
                </a:solidFill>
                <a:latin typeface="Aptos"/>
              </a:rPr>
              <a:t>Employment, self-employment, apprenticeship and retention remain visible after training.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217920" y="1975104"/>
            <a:ext cx="51663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82512" y="2176272"/>
            <a:ext cx="420624" cy="420624"/>
          </a:xfrm>
          <a:prstGeom prst="ellipse">
            <a:avLst/>
          </a:prstGeom>
          <a:solidFill>
            <a:srgbClr val="2982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967728" y="2139696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29825B"/>
                </a:solidFill>
                <a:latin typeface="Aptos"/>
              </a:rPr>
              <a:t>PROVIDER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67728" y="2432304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1E2634"/>
                </a:solidFill>
                <a:latin typeface="Aptos"/>
              </a:rPr>
              <a:t>Outcome-linked accountability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67728" y="2743200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606A7A"/>
                </a:solidFill>
                <a:latin typeface="Aptos"/>
              </a:rPr>
              <a:t>Compare completion, placement and retention across providers and courses.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94360" y="3483864"/>
            <a:ext cx="51663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758952" y="3685032"/>
            <a:ext cx="420624" cy="420624"/>
          </a:xfrm>
          <a:prstGeom prst="ellipse">
            <a:avLst/>
          </a:prstGeom>
          <a:solidFill>
            <a:srgbClr val="EE842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344168" y="3648456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EE842C"/>
                </a:solidFill>
                <a:latin typeface="Aptos"/>
              </a:rPr>
              <a:t>POLICY TEAM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344168" y="3941064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1E2634"/>
                </a:solidFill>
                <a:latin typeface="Aptos"/>
              </a:rPr>
              <a:t>Evidence for resource allocation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344168" y="4251960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606A7A"/>
                </a:solidFill>
                <a:latin typeface="Aptos"/>
              </a:rPr>
              <a:t>District and demographic patterns expose where interventions are needed.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17920" y="3483864"/>
            <a:ext cx="51663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82512" y="3685032"/>
            <a:ext cx="420624" cy="420624"/>
          </a:xfrm>
          <a:prstGeom prst="ellipse">
            <a:avLst/>
          </a:prstGeom>
          <a:solidFill>
            <a:srgbClr val="142C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967728" y="3648456"/>
            <a:ext cx="416052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dirty="0">
                <a:solidFill>
                  <a:srgbClr val="142C60"/>
                </a:solidFill>
                <a:latin typeface="Aptos"/>
              </a:rPr>
              <a:t>PROGRAMME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67728" y="3941064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1E2634"/>
                </a:solidFill>
                <a:latin typeface="Aptos"/>
              </a:rPr>
              <a:t>Targeted remedial action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67728" y="4251960"/>
            <a:ext cx="416052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606A7A"/>
                </a:solidFill>
                <a:latin typeface="Aptos"/>
              </a:rPr>
              <a:t>Skill gaps and non-placement / attrition reasons point to course or industry-linkage changes.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14400" y="5508123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dirty="0">
                <a:solidFill>
                  <a:srgbClr val="142C60"/>
                </a:solidFill>
                <a:latin typeface="Aptos"/>
              </a:rPr>
              <a:t>Better outcome data  →  better accountability  →  better interventions  →  better livelihood outcomes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325880" y="6011043"/>
            <a:ext cx="95097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dirty="0">
                <a:solidFill>
                  <a:srgbClr val="606A7A"/>
                </a:solidFill>
                <a:latin typeface="Aptos"/>
              </a:rPr>
              <a:t>Social impact • economic efficiency • transparent programme monitoring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1C2FB2-A0D7-2090-C3A3-15B8BC9F7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0" y="1509737"/>
            <a:ext cx="12192000" cy="394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rd BG 2">
            <a:extLst>
              <a:ext uri="{FF2B5EF4-FFF2-40B4-BE49-F238E27FC236}">
                <a16:creationId xmlns:a16="http://schemas.microsoft.com/office/drawing/2014/main" id="{A7FEE551-36B5-2946-B30C-7556ADFE3703}"/>
              </a:ext>
            </a:extLst>
          </p:cNvPr>
          <p:cNvSpPr/>
          <p:nvPr/>
        </p:nvSpPr>
        <p:spPr>
          <a:xfrm>
            <a:off x="4001874" y="1067445"/>
            <a:ext cx="8028061" cy="5250159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  <a:effectLst>
            <a:outerShdw dist="23000" dir="5400000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PROTOTYPE</a:t>
            </a:r>
          </a:p>
        </p:txBody>
      </p:sp>
      <p:sp>
        <p:nvSpPr>
          <p:cNvPr id="13" name="Rounded Rectangle 17409">
            <a:extLst>
              <a:ext uri="{FF2B5EF4-FFF2-40B4-BE49-F238E27FC236}">
                <a16:creationId xmlns:a16="http://schemas.microsoft.com/office/drawing/2014/main" id="{14B8BA2C-C18B-C623-245C-D26676298283}"/>
              </a:ext>
            </a:extLst>
          </p:cNvPr>
          <p:cNvSpPr/>
          <p:nvPr/>
        </p:nvSpPr>
        <p:spPr>
          <a:xfrm>
            <a:off x="326922" y="1063837"/>
            <a:ext cx="3382297" cy="5253767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E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102B1C-08A8-B29A-DF8F-C5E24B4D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6E5CDD-E431-1758-FFA3-C723A529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D2E66B-1250-E8C1-33D3-2F0224611758}"/>
              </a:ext>
            </a:extLst>
          </p:cNvPr>
          <p:cNvSpPr txBox="1">
            <a:spLocks/>
          </p:cNvSpPr>
          <p:nvPr/>
        </p:nvSpPr>
        <p:spPr>
          <a:xfrm>
            <a:off x="-680266" y="1347656"/>
            <a:ext cx="5260258" cy="49146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LINKS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2AE7517-4FB6-AFFF-BF19-82AD64F69BC3}"/>
              </a:ext>
            </a:extLst>
          </p:cNvPr>
          <p:cNvSpPr txBox="1">
            <a:spLocks/>
          </p:cNvSpPr>
          <p:nvPr/>
        </p:nvSpPr>
        <p:spPr>
          <a:xfrm>
            <a:off x="326922" y="2026534"/>
            <a:ext cx="3382297" cy="394422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IN" sz="1600" dirty="0"/>
              <a:t>Mahaswayam – Government of Maharashtra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solidFill>
                  <a:schemeClr val="accent6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https://www.mahaswayam.gov.in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/>
            <a:r>
              <a:rPr lang="en-US" sz="1600" dirty="0"/>
              <a:t>Mahaswayam – Skill Gap Study Report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https://www.mahaswayam.gov.in/skillgapstudy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/>
            <a:r>
              <a:rPr lang="en-IN" sz="1600" dirty="0"/>
              <a:t>Skill India Digital Hub (SIDH)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solidFill>
                  <a:schemeClr val="accent6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https://www.skillindiadigital.gov.in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/>
            <a:r>
              <a:rPr lang="en-IN" sz="1600" dirty="0"/>
              <a:t>National Career Service (NCS)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solidFill>
                  <a:schemeClr val="accent6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https://www.ncs.gov.in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/>
            <a:r>
              <a:rPr lang="en-US" sz="1600" dirty="0"/>
              <a:t>National Career Service – Job Search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https://www.ncs.gov.in/job-seeker/pages/search.aspx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IN" sz="1600" dirty="0"/>
          </a:p>
          <a:p>
            <a:endParaRPr lang="en-IN" sz="1600" dirty="0"/>
          </a:p>
          <a:p>
            <a:pPr marL="285750" indent="-285750">
              <a:buFontTx/>
              <a:buChar char="-"/>
            </a:pPr>
            <a:endParaRPr lang="en-IN" sz="1600" dirty="0"/>
          </a:p>
          <a:p>
            <a:pPr marL="285750" indent="-285750">
              <a:buFontTx/>
              <a:buChar char="-"/>
            </a:pPr>
            <a:endParaRPr lang="en-IN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D682B9-87B8-A18D-6371-616471A5E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2452DA-20AF-72CC-C952-4C3D8D54B2AB}"/>
              </a:ext>
            </a:extLst>
          </p:cNvPr>
          <p:cNvSpPr txBox="1">
            <a:spLocks/>
          </p:cNvSpPr>
          <p:nvPr/>
        </p:nvSpPr>
        <p:spPr>
          <a:xfrm>
            <a:off x="609600" y="-226141"/>
            <a:ext cx="10835148" cy="10592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A808060-B2E2-0672-0352-35B502B6BB18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67455CCC-AB5E-F93E-4061-A7814FD9638E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3EAE262A-5F37-D2FA-6DEF-E31D71208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79076"/>
            <a:ext cx="1361935" cy="9512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  <a:p>
            <a:pPr algn="ctr"/>
            <a:r>
              <a:rPr lang="en-IN" b="1" dirty="0">
                <a:solidFill>
                  <a:srgbClr val="1E2634"/>
                </a:solidFill>
              </a:rPr>
              <a:t>Team KAIZEN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E07E37-F415-3C21-8EEB-99ADE1FEF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0F08C0-73E4-F0B6-D23F-7A70F4C2B0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0924" y="1582012"/>
            <a:ext cx="2936768" cy="23364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66ED0C-3AAB-937D-7629-773F01B82A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8011" y="4008029"/>
            <a:ext cx="2922594" cy="21869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58D4F38-5901-0290-C1E0-404D0681B7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8134" y="1563433"/>
            <a:ext cx="4666944" cy="465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20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7813</TotalTime>
  <Words>462</Words>
  <Application>Microsoft Office PowerPoint</Application>
  <PresentationFormat>Widescreen</PresentationFormat>
  <Paragraphs>93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TradeGothic</vt:lpstr>
      <vt:lpstr>Aptos</vt:lpstr>
      <vt:lpstr>Arial</vt:lpstr>
      <vt:lpstr>Calibri</vt:lpstr>
      <vt:lpstr>Garamond</vt:lpstr>
      <vt:lpstr>Times New Roman</vt:lpstr>
      <vt:lpstr>Office Theme</vt:lpstr>
      <vt:lpstr>PowerPoint Presentation</vt:lpstr>
      <vt:lpstr>THE KAIZEN FLOW LONGITUDINAL SKILLING OUTCOME INTELLIGENCE</vt:lpstr>
      <vt:lpstr>PowerPoint Presentation</vt:lpstr>
      <vt:lpstr>FEASIBILITY AND VIABILITY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Yashasvi surma</cp:lastModifiedBy>
  <cp:revision>158</cp:revision>
  <dcterms:created xsi:type="dcterms:W3CDTF">2013-12-12T18:46:50Z</dcterms:created>
  <dcterms:modified xsi:type="dcterms:W3CDTF">2026-09-11T16:19:13Z</dcterms:modified>
  <cp:category/>
</cp:coreProperties>
</file>